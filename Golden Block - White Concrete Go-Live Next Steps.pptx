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e631109-c5a9-d3c8-3ffe-8722842177c0}">
          <p14:sldIdLst>
            <p14:sldId id="256"/>
            <p14:sldId id="257"/>
          </p14:sldIdLst>
        </p14:section>
        <p14:section name="Status" id="{5626bc44-8c50-e7db-62bf-28101d684d9b}">
          <p14:sldIdLst>
            <p14:sldId id="258"/>
            <p14:sldId id="259"/>
          </p14:sldIdLst>
        </p14:section>
        <p14:section name="Go-live plan" id="{11cac06d-cda3-1f21-2b2d-08da518d86a9}">
          <p14:sldIdLst>
            <p14:sldId id="260"/>
            <p14:sldId id="261"/>
            <p14:sldId id="262"/>
            <p14:sldId id="263"/>
            <p14:sldId id="264"/>
          </p14:sldIdLst>
        </p14:section>
        <p14:section name="Support and decisions" id="{896bca9f-aca4-84dd-c542-d2833f50c56e}">
          <p14:sldIdLst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thanking the team for UAT effort. Purpose: agree the go-live date, the cutover plan and what each side does before go-live.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Modules in scope: SD, FICO, MM, PP and QM, plus ZATCA e-invoicing for the new company code. Fill UAT pass count and open defects with the team before the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suggestion: Sunday 1 November 2026, first working day of the month in KSA. Confirm the trading start date of the legal entity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Contract: customer provides master data, key users, system access and licences; delays here move the schedule. In Public Edition, imports into P and business roles/users sit with Golden Block's administrator (contract excludes Basis and authorisations).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Contract: 10% milestone is invoiced after successful ZATCA integration testing; the term is not defined, so agree it here. QR code changes are out of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No-Go: White Concrete does not post in P and the date moves. No technical rollback is needed for the existing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Hypercare is not defined in the contract. Fill this slide only with what was agreed internally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Internal: Option 2 is outside the contract (data migration beyond scope; requests after UAT) and needs a CR with effort and timeline. Before offering it, test one June goods receipt, production order and invoice in Q. Migration cockpit loads open items and balances, not closed historical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SNAGFREE  |  Golden Block  |  White Concrete company code go-live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 Concrete Company Code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Golden Block  |  Go-live to production (P): next steps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SNAGFREE and Golden Block  |  [ meeting date 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we agree the go-live date and who does what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60 minutes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7830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Where we are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DEV, Q and UAT status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880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8346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UAT sign-off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What is left and when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3931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931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8862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Go-live timeline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Proposed date and milestones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4983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983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9377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Cutover plan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Six workstreams to production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0" y="1828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17830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we need from you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Actions with owners and dates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0" y="2880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28346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Go/No-Go and support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Criteria and hypercare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400800" y="3931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3931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7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38862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Decisions and next steps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Confirm before we leave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and Q are complete; UAT is the last step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Six project phases since 19 July 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80160" y="2286000"/>
            <a:ext cx="10058400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202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✓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27889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Foundation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setup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0" y="19202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27889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configuration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19202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7889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prep and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final config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19202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✓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7889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ZATCA and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master data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61120" y="19202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6112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✓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7889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Testing and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972800" y="19202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7280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0424160" y="27889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User acceptance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(UAT)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42416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2"/>
                </a:solidFill>
              </a:rPr>
              <a:t>In progress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114800"/>
            <a:ext cx="338328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5840" y="4297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5120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DEV configuration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All in-scope modules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89120" y="4114800"/>
            <a:ext cx="338328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63440" y="4297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</a:t>
            </a:r>
            <a:endParaRPr lang="en-US" sz="400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5120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 system testing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Integration and end-to-end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046720" y="4114800"/>
            <a:ext cx="338328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4297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fill ]</a:t>
            </a:r>
            <a:endParaRPr lang="en-US" sz="40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5120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UAT scenarios passed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Open defects: [ fill 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UAT sign-off per module comes before cutover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Team to fill before the meeting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1188720"/>
                <a:gridCol w="1463040"/>
                <a:gridCol w="1280160"/>
                <a:gridCol w="2194560"/>
                <a:gridCol w="1463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Module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Scenarios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Passed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Open defects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Blockers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Sign-off owner (GB)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Sign-off date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FICO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QM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ZATCA e-invoicing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3949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Ask: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signed UAT confirmation by email from each module owner by </a:t>
            </a:r>
            <a:pPr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[ date ]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timeline to go-live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 = go-live day. Proposed go-live: [ date ]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926080"/>
            <a:ext cx="10515600" cy="0"/>
          </a:xfrm>
          <a:prstGeom prst="line">
            <a:avLst/>
          </a:prstGeom>
          <a:noFill/>
          <a:ln w="50800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74320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7160" y="1874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T-10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7160" y="33832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UAT signed off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" y="4343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[ dd Mon 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77440" y="274320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28800" y="1874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T-5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3832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Master data and user access ready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4343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[ dd Mon 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69080" y="274320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20440" y="1874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3832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Transports imported to P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4343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[ dd Mon 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274320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1874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33832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ZATCA production onboarding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4343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[ dd Mon 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52360" y="274320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03720" y="1874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T-2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3832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Go/No-Go meeting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4343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[ dd Mon 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52560" y="2651760"/>
            <a:ext cx="548640" cy="5486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1874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595360" y="33832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Go-live and first transactions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595360" y="4343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[ dd Mon ]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835640" y="274320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287000" y="1874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T+[ ]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10287000" y="33832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Hypercare ends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287000" y="4343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[ dd Mon ]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25780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5257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a start-of-month date: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the new company starts trading clean for its first period close and first VAT return.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workstreams take us to production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Each has one owner and a check before Go/No-Go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Transports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Customizing and software collections imported to P in the tested order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Owner: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GB admin imports, SNAGFREE verifies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5371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93792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Production settings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2560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Number ranges (incl. billing), posting periods, banks, cost centres, MRP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53712" y="3337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Owner: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SNAGFREE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01584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0184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30184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970264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Master data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330184" y="2560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Extend materials, customers and suppliers; prices, BOMs, recipes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30184" y="3337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Owner: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GB provides, [ owner ] loads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343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User access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983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Business roles extended to White Concrete org units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760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Owner: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GB admin / IAM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25112" y="411480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53712" y="4343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53712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193792" y="4343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ZATCA onboarding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4553712" y="4983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Production CSID, eDocument and integration setup, invoice form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53712" y="5760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Owner: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SNAGFREE + GB (Fatoora portal)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01584" y="411480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30184" y="4343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30184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970264" y="4343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Go-live checks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8330184" y="4983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First transaction in each cycle watched end to end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330184" y="5760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Owner: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GB key users + SNAGFREE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Golden Block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Dates agreed today go into the meeting minutes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7315200"/>
                <a:gridCol w="1737360"/>
                <a:gridCol w="146304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Owner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Due date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Sign UAT per module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Confirm White Concrete trading start date, VAT and CR numbers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Name the admin and window to import collections into 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Extend business roles and assign users for White Concrete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Deliver final master data files (products, partners, prices, BOMs, recipes, inspection plans)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Generate OTP on the Fatoora portal for ZATCA onboarding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Provide house bank and bank account details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Decide on opening balances (GL, assets, open items, stock)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Name key users available on go-live day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Agree White Concrete billing number format (own range per company code)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</a:rPr>
                        <a:t>[ fill 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ZATCA e-invoicing goes live in five steps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Invoices for the new company cannot be issued until step 4 is done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103120" cy="1005840"/>
          </a:xfrm>
          <a:prstGeom prst="homePlat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20040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Confirm entity details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VAT, CR, address in the system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</a:rPr>
              <a:t>GB confirms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88920" y="2011680"/>
            <a:ext cx="2103120" cy="100584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2011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320040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Production settings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eDocument and integration setup for White Concrete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</a:rPr>
              <a:t>SNAGFREE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2011680"/>
            <a:ext cx="2103120" cy="100584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011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320040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Generate OTP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 the Fatoora portal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</a:rPr>
              <a:t>GB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69480" y="2011680"/>
            <a:ext cx="2103120" cy="100584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69480" y="2011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320040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Production CSID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Compliance checks pass; certificate issued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</a:rPr>
              <a:t>SNAGFREE + GB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09760" y="2011680"/>
            <a:ext cx="2103120" cy="100584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0" y="2011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555480" y="320040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First invoice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Cleared or reported; status checked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</a:rPr>
              <a:t>GB + SNAGFREE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2120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 agree: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what counts as successful ZATCA testing (passing in Q, or first invoice cleared from P).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what at go-live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 = does the work   A = accountable   C = consulted   I = informed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103120"/>
                <a:gridCol w="210312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Activity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SNAGFREE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GB business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GB admin / IAM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UAT sign-off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A/R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Cutover plan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A/R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Import collections into 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 (verify)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A/R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Settings maintained in 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A/R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Master data files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 (templates)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A/R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Master data load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2"/>
                          </a:solidFill>
                        </a:rPr>
                        <a:t>[ 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2"/>
                          </a:solidFill>
                        </a:rPr>
                        <a:t>[ 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Business roles and users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A/R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ZATCA eDocument and integration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A/R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Fatoora OTP and CSID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 (support)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A/R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Go/No-Go decision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 (recommend)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Hypercare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A/R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 (report)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go live only when all nine criteria are met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Go/No-Go meeting at T-2: [ date ]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47672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47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83080"/>
            <a:ext cx="2331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UAT signed off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Signed email per module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25112" y="1645920"/>
            <a:ext cx="3520440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3712" y="1947672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3712" y="1947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330952" y="1783080"/>
            <a:ext cx="2331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 open blockers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Agreed defect list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01584" y="1645920"/>
            <a:ext cx="3520440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0184" y="1947672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30184" y="1947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9107424" y="1783080"/>
            <a:ext cx="2331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Transports imported to 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Import logs clean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054096"/>
            <a:ext cx="3520440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355848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3558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191256"/>
            <a:ext cx="2331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 settings done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Incl. billing number range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25112" y="3054096"/>
            <a:ext cx="3520440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53712" y="3355848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53712" y="33558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330952" y="3191256"/>
            <a:ext cx="2331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Master data loaded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Counts signed by GB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01584" y="3054096"/>
            <a:ext cx="3520440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0184" y="3355848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30184" y="33558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107424" y="3191256"/>
            <a:ext cx="2331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Users can log in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Key-user access test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4462272"/>
            <a:ext cx="3520440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4764024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76402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4599432"/>
            <a:ext cx="2331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ZATCA live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Production CSID active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25112" y="4462272"/>
            <a:ext cx="3520440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53712" y="4764024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53712" y="476402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5330952" y="4599432"/>
            <a:ext cx="2331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Opening balances agreed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In the minutes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01584" y="4462272"/>
            <a:ext cx="3520440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30184" y="4764024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330184" y="476402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9107424" y="4599432"/>
            <a:ext cx="2331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Support team named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Contact list issued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after go-live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Remote hypercare while the first transactions and close run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389120"/>
          </a:xfrm>
          <a:prstGeom prst="roundRect">
            <a:avLst>
              <a:gd name="adj" fmla="val 1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Hypercare model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6888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Duration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i="1" dirty="0">
                          <a:solidFill>
                            <a:schemeClr val="accent2"/>
                          </a:solidFill>
                        </a:rPr>
                        <a:t>[ ] weeks from go-live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Hours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i="1" dirty="0">
                          <a:solidFill>
                            <a:schemeClr val="accent2"/>
                          </a:solidFill>
                        </a:rPr>
                        <a:t>[ ]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Channel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i="1" dirty="0">
                          <a:solidFill>
                            <a:schemeClr val="accent2"/>
                          </a:solidFill>
                        </a:rPr>
                        <a:t>[ email / ticket / group ]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Daily call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15 minutes, issues and priorities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First month-end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i="1" dirty="0">
                          <a:solidFill>
                            <a:schemeClr val="accent2"/>
                          </a:solidFill>
                        </a:rPr>
                        <a:t>[ included / not included ]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Issue log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Shared; severity, owner, status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94944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Scope reminders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246888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Hypercare fixes issues in the delivered scope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New requests are logged as change requests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Support is remote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Not included: intercompany, STO, new document types, new master records, print layouts beyond the ZATCA invoice form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request: transactions dated from June 2026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Two options for White Concrete history; details after a test in Q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265176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Option 1  (recommended)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Opening balances + monthly summaries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Balances, open items, stock and assets loaded at the go-live cut-off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summary journal entry upload per month, June to September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Monthly P&amp;L and balance sheet from June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backdated invoices sent to ZATCA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965960"/>
            <a:ext cx="265176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9659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Option 2  (change request)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514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Full replay of operations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06324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purchase, production, sales and quality document re-entered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Month by month: inventory only posts in current and previous period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Month-end costing and close for each month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ZATCA and VAT impact if invoices were already issued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53035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 decide: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why the history is needed, and whether White Concrete already traded and invoiced since June.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today and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Decisions needed today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947672"/>
            <a:ext cx="329184" cy="329184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87452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UAT sign-off date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96312"/>
            <a:ext cx="329184" cy="329184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4231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Go-live date and cutover window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44952"/>
            <a:ext cx="329184" cy="329184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Go/No-Go meeting date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593592"/>
            <a:ext cx="329184" cy="329184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5204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Owner and date for each action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42232"/>
            <a:ext cx="329184" cy="329184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40690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Opening balance approach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690872"/>
            <a:ext cx="329184" cy="329184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461772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ZATCA success definition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239512"/>
            <a:ext cx="329184" cy="329184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51663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Hypercare length and channel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788152"/>
            <a:ext cx="329184" cy="329184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57150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Answer on postings since June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0" y="1280160"/>
            <a:ext cx="5212080" cy="4800600"/>
          </a:xfrm>
          <a:prstGeom prst="roundRect">
            <a:avLst>
              <a:gd name="adj" fmla="val 15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1463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Today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2103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Minutes with decisions and actions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2743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[ date ]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2743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UAT sign-off received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3383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[ date ]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3383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Master data and access ready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4023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[ date ]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138160" y="4023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Transports and ZATCA in P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4663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[ date ]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138160" y="4663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Go/No-Go meeting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5303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[ date ]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138160" y="5303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Go-live</a:t>
            </a:r>
            <a:endParaRPr lang="en-US" sz="1500" dirty="0"/>
          </a:p>
        </p:txBody>
      </p:sp>
      <p:sp>
        <p:nvSpPr>
          <p:cNvPr id="34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NAGFREE Go-Live">
  <a:themeElements>
    <a:clrScheme name="SNAGFREE Go-Live">
      <a:dk1>
        <a:srgbClr val="1E2A22"/>
      </a:dk1>
      <a:lt1>
        <a:srgbClr val="FFFFFF"/>
      </a:lt1>
      <a:dk2>
        <a:srgbClr val="23402C"/>
      </a:dk2>
      <a:lt2>
        <a:srgbClr val="EEF3EA"/>
      </a:lt2>
      <a:accent1>
        <a:srgbClr val="5E9446"/>
      </a:accent1>
      <a:accent2>
        <a:srgbClr val="D9971E"/>
      </a:accent2>
      <a:accent3>
        <a:srgbClr val="2F6B7A"/>
      </a:accent3>
      <a:accent4>
        <a:srgbClr val="B9D3A8"/>
      </a:accent4>
      <a:accent5>
        <a:srgbClr val="B5473A"/>
      </a:accent5>
      <a:accent6>
        <a:srgbClr val="7A8780"/>
      </a:accent6>
      <a:hlink>
        <a:srgbClr val="2F6B7A"/>
      </a:hlink>
      <a:folHlink>
        <a:srgbClr val="6D5E8A"/>
      </a:folHlink>
    </a:clrScheme>
    <a:fontScheme name="SNAGFREE Go-Liv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SNAGFREE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Golden Block - White Concrete Go-Live Next Steps</dc:title>
  <dc:subject>PptxGenJS Presentation</dc:subject>
  <dc:creator>PptxGenJS</dc:creator>
  <cp:lastModifiedBy>PptxGenJS</cp:lastModifiedBy>
  <cp:revision>1</cp:revision>
  <dcterms:created xsi:type="dcterms:W3CDTF">2026-10-18T07:07:41Z</dcterms:created>
  <dcterms:modified xsi:type="dcterms:W3CDTF">2026-10-18T07:07:41Z</dcterms:modified>
</cp:coreProperties>
</file>